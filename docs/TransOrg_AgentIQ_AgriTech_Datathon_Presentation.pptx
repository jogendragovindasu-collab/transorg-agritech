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ogendragovindasu-collab/transorg-agritech" TargetMode="External"/><Relationship Id="rId3" Type="http://schemas.openxmlformats.org/officeDocument/2006/relationships/hyperlink" Target="https://transorg-agritech.streamlit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TransOrg AgentIQ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DE1F0"/>
                </a:solidFill>
              </a:defRPr>
            </a:pPr>
            <a:r>
              <a:t>Mandi-to-Market Supply Chain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8803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B478"/>
                </a:solidFill>
              </a:defRPr>
            </a:pPr>
            <a:r>
              <a:t>Track 3 • AgriTech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4747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From messy organizer data to decision-ready analytics and grounded agentic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212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Team: 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7150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4C3D2"/>
                </a:solidFill>
              </a:defRPr>
            </a:pPr>
            <a:r>
              <a:t>LPU • Datathon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Agricultural supply-chain decisions are only as reliable as the underlying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82880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3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DATA RESCUE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5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603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Missing values, duplicates, mixed formats, multilingual crop names and inconsistent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182880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3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DECISION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What is risky?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Stakeholders need visibility into arrivals, MSP risk, logistics and weather associations.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64008" cy="182880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3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ACTION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From charts to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Surface where to investigate—not just display historical numbers.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Build a reproducible Mandi-to-Market intelligence layer from organizer-provided data.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Answer supply concentration, price vulnerability, logistics performance and weather–arrival questions.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Use deterministic analytics first; AI explains and visualizes validated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2.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A controlled pipeline keeps the AI grounded in validated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92024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01 DATA RESCUE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Raw organizer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645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645920"/>
            <a:ext cx="64008" cy="192024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02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1031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Validated CSV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645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645920"/>
            <a:ext cx="64008" cy="192024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03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1031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Executive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645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34856" y="1645920"/>
            <a:ext cx="64008" cy="192024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04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1031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Natural-language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Question → intent → deterministic analytics tool → validated result → correct chart → grounded explanation.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No arbitrary SQL, fabricated values, external market data or unsupported weather-to-mandi mapping.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</a:defRPr>
            </a:pPr>
            <a:r>
              <a:t>• Dashboard metrics are sourced from the analytics layer rather than raw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3. Data Rescue &amp; Standardization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Physical duplicate removals are separated from downstream analytical exclusions.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657600" cy="438912"/>
          </a:xfrm>
          <a:prstGeom prst="rect">
            <a:avLst/>
          </a:prstGeom>
          <a:solidFill>
            <a:srgbClr val="1425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0876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1828800" cy="438912"/>
          </a:xfrm>
          <a:prstGeom prst="rect">
            <a:avLst/>
          </a:prstGeom>
          <a:solidFill>
            <a:srgbClr val="1425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0876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1828800" cy="438912"/>
          </a:xfrm>
          <a:prstGeom prst="rect">
            <a:avLst/>
          </a:prstGeom>
          <a:solidFill>
            <a:srgbClr val="1425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50876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2743200" cy="438912"/>
          </a:xfrm>
          <a:prstGeom prst="rect">
            <a:avLst/>
          </a:prstGeom>
          <a:solidFill>
            <a:srgbClr val="1425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508760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Duplicates removed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56232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975104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Mandi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56232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7510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56232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97510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57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56232"/>
            <a:ext cx="27432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1975104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377440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496312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Mandi arrivals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377440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49631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25,750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49631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25,000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377440"/>
            <a:ext cx="27432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2496312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750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898648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01752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Price &amp; MSP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898648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017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12,000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898648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017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12,000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898648"/>
            <a:ext cx="27432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2" y="3017520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419856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538728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Weather sensors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19856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353872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19856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53872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15,000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419856"/>
            <a:ext cx="27432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538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941064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059936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Transport logistics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941064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62272" y="4059936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10,400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941064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4059936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10,000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3941064"/>
            <a:ext cx="27432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9872" y="4059936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2033"/>
                </a:solidFill>
              </a:defRPr>
            </a:pPr>
            <a:r>
              <a:t>400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480060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Standardized crop names, mandi IDs, dates, quantities to Quintals, distance to KM, currency, temperature to °C and rainfall to mm.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UTC timestamps converted to IST; negative transit values flagged/excluded from transit analytics.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Quantity parser: 19,346 separate-unit + 5,143 embedded-unit values resolved; 1,261 negative values flagged; 0 unresolvable.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4. Analytics Layer &amp; Core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Validated analytics outputs power every dashboard and agent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55448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Analyzed arrival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989,884 Qtl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Supply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155448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Price crash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40.34%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Modal price &lt; MSP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64008" cy="155448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55448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Average modal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74519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₹3,793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423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Per quintal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375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37560"/>
            <a:ext cx="64008" cy="155448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Average MSP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94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₹3,711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Government support 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3375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337560"/>
            <a:ext cx="64008" cy="155448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47472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Active mandis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794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With arrival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3375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337560"/>
            <a:ext cx="64008" cy="155448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47472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Average transit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794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12.94 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Median 13.0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72033"/>
                </a:solidFill>
              </a:defRPr>
            </a:pPr>
            <a:r>
              <a:t>• Transport P90 threshold: 21.70 hours.</a:t>
            </a:r>
          </a:p>
          <a:p>
            <a:pPr>
              <a:spcAft>
                <a:spcPts val="800"/>
              </a:spcAft>
              <a:defRPr sz="1100">
                <a:solidFill>
                  <a:srgbClr val="172033"/>
                </a:solidFill>
              </a:defRPr>
            </a:pPr>
            <a:r>
              <a:t>• Weather–arrival analysis uses overlapping date-level records only; current correlation ≈ -0.03 across 135 overlapping days.</a:t>
            </a:r>
          </a:p>
          <a:p>
            <a:pPr>
              <a:spcAft>
                <a:spcPts val="800"/>
              </a:spcAft>
              <a:defRPr sz="1100">
                <a:solidFill>
                  <a:srgbClr val="172033"/>
                </a:solidFill>
              </a:defRPr>
            </a:pPr>
            <a:r>
              <a:t>• Price crash risk measures frequency of below-MSP records, not total economic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5. 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An operations-style workspace focused on decisions, not decorative charts.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835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64008" cy="91440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989,884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91440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CRASH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40.3%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645920"/>
            <a:ext cx="64008" cy="91440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7830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03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₹3,793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788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88920"/>
            <a:ext cx="64008" cy="91440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926079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MSP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46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₹3,711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788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788920"/>
            <a:ext cx="64008" cy="91440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926079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MANDIS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46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27889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2788920"/>
            <a:ext cx="64008" cy="91440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79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TRANSIT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2461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12.9h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160520"/>
            <a:ext cx="306324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343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Daily Arrival Volume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Trend + 7-day movement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160520"/>
            <a:ext cx="306324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4343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Top 10 Mandis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Volume concentration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160520"/>
            <a:ext cx="306324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4343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Price vs MSP by Crop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Crop-level vulnerability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6. Advanced Insights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Validated metrics become investigation priorities.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55448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PRICE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40.34%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of valid price records are below MSP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55448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CROP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46.8%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of arrival volume comes from the top 3 crops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91839"/>
            <a:ext cx="64008" cy="155448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8999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MANDI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10.3%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7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of total arrivals come from the top 5 mandis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91839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91839"/>
            <a:ext cx="64008" cy="155448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428999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3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21.7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9767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P90 long-transit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High-volume/high-crash crops include Wheat, Cotton and Sugarcane; Wheat has a 41.6% below-MSP rate across 219,523 Qtl.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Weather association is reported cautiously: date-level rainfall and arrivals show weak correlation (r ≈ -0.03), so the system does not claim causation.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7. Agri Intelligence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Natural language in; deterministic, validated analytics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196596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39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Which crops have the highest price crash risk?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5544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554480"/>
            <a:ext cx="64008" cy="196596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691639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PRICE_RISK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5544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554480"/>
            <a:ext cx="64008" cy="196596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691639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crop_kpis.csv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5544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34856" y="1554480"/>
            <a:ext cx="64008" cy="196596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691639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Chart + grounded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</a:defRPr>
            </a:pPr>
            <a:r>
              <a:t>• 10 supported intents + a safe UNSUPPORTED fallback.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</a:defRPr>
            </a:pPr>
            <a:r>
              <a:t>• Validated demo flows: price risk, mandi analysis, wheat supply trend, warehouse transit, rainfall association and data-cleaning impact.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</a:defRPr>
            </a:pPr>
            <a:r>
              <a:t>• Safeguards: analytics-only sources, no fabricated numbers, explicit limitations, deterministic chart selection and grounded explanations.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033"/>
                </a:solidFill>
              </a:defRPr>
            </a:pPr>
            <a:r>
              <a:t>8. Engineering, Reproducibility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The repository is structured so the pipeline can be rerun and audited.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2286000"/>
          </a:xfrm>
          <a:prstGeom prst="rect">
            <a:avLst/>
          </a:prstGeom>
          <a:solidFill>
            <a:srgbClr val="12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data/raw/</a:t>
            </a:r>
            <a:br/>
            <a:r>
              <a:t>data/cleaned/</a:t>
            </a:r>
            <a:br/>
            <a:r>
              <a:t>analytics/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39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Organizer data → cleaned datasets → validated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41732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417320"/>
            <a:ext cx="64008" cy="2286000"/>
          </a:xfrm>
          <a:prstGeom prst="rect">
            <a:avLst/>
          </a:prstGeom>
          <a:solidFill>
            <a:srgbClr val="EA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dashboard/</a:t>
            </a:r>
            <a:br/>
            <a:r>
              <a:t>agent/</a:t>
            </a:r>
            <a:br/>
            <a:r>
              <a:t>scripts/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977639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Streamlit + Plotly + deterministic AgentCore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41732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1417320"/>
            <a:ext cx="64008" cy="2286000"/>
          </a:xfrm>
          <a:prstGeom prst="rect">
            <a:avLst/>
          </a:prstGeom>
          <a:solidFill>
            <a:srgbClr val="50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554480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033"/>
                </a:solidFill>
              </a:defRPr>
            </a:pPr>
            <a:r>
              <a:t>tests/</a:t>
            </a:r>
            <a:br/>
            <a:r>
              <a:t>README.md</a:t>
            </a:r>
            <a:br/>
            <a:r>
              <a:t>data_dictionary.md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977639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Automated tests + reproducibility + definitions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Current local validation: dashboard assertions 5/5; agent + dashboard integration tests 22/22.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README includes clone/install, reproducibility commands, methodology, validated metrics, architecture, testing and security guidance.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• GitHub repository is the source of truth for code, documentation and submission materials.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1E8F0"/>
                </a:solidFill>
              </a:defRPr>
            </a:pPr>
            <a:r>
              <a:t>• Built a reproducible Mandi-to-Market intelligence system from the organizer dataset.</a:t>
            </a:r>
          </a:p>
          <a:p>
            <a:pPr>
              <a:spcAft>
                <a:spcPts val="800"/>
              </a:spcAft>
              <a:defRPr sz="1800">
                <a:solidFill>
                  <a:srgbClr val="E1E8F0"/>
                </a:solidFill>
              </a:defRPr>
            </a:pPr>
            <a:r>
              <a:t>• Rescued messy data, produced validated analytics, and surfaced supply, price and logistics signals.</a:t>
            </a:r>
          </a:p>
          <a:p>
            <a:pPr>
              <a:spcAft>
                <a:spcPts val="800"/>
              </a:spcAft>
              <a:defRPr sz="1800">
                <a:solidFill>
                  <a:srgbClr val="E1E8F0"/>
                </a:solidFill>
              </a:defRPr>
            </a:pPr>
            <a:r>
              <a:t>• Added a grounded natural-language agent that maps questions to deterministic analytics and appropriate visual outputs.</a:t>
            </a:r>
          </a:p>
          <a:p>
            <a:pPr>
              <a:spcAft>
                <a:spcPts val="800"/>
              </a:spcAft>
              <a:defRPr sz="1800">
                <a:solidFill>
                  <a:srgbClr val="E1E8F0"/>
                </a:solidFill>
              </a:defRPr>
            </a:pPr>
            <a:r>
              <a:t>• Designed for transparent decision support: important numbers are traceable to the analytics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B478"/>
                </a:solidFill>
              </a:defRPr>
            </a:pPr>
            <a: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646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rPr>
                <a:hlinkClick r:id="rId2"/>
              </a:rPr>
              <a:t>https://github.com/jogendragovindasu-collab/transorg-agritech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B478"/>
                </a:solidFill>
              </a:defRPr>
            </a:pPr>
            <a:r>
              <a:t>Live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332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rPr>
                <a:hlinkClick r:id="rId3"/>
              </a:rPr>
              <a:t>https://transorg-agritech.streamlit.app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